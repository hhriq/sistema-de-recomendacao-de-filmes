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32404050" cy="43205400"/>
  <p:notesSz cx="6858000" cy="9144000"/>
  <p:defaultTextStyle>
    <a:defPPr>
      <a:defRPr lang="pt-BR"/>
    </a:defPPr>
    <a:lvl1pPr marL="0" algn="l" defTabSz="4320540" rtl="0" eaLnBrk="1" latinLnBrk="0" hangingPunct="1">
      <a:defRPr sz="8500" kern="1200">
        <a:solidFill>
          <a:schemeClr val="tx1"/>
        </a:solidFill>
        <a:latin typeface="+mn-lt"/>
        <a:ea typeface="+mn-ea"/>
        <a:cs typeface="+mn-cs"/>
      </a:defRPr>
    </a:lvl1pPr>
    <a:lvl2pPr marL="2160270" algn="l" defTabSz="4320540" rtl="0" eaLnBrk="1" latinLnBrk="0" hangingPunct="1">
      <a:defRPr sz="8500" kern="1200">
        <a:solidFill>
          <a:schemeClr val="tx1"/>
        </a:solidFill>
        <a:latin typeface="+mn-lt"/>
        <a:ea typeface="+mn-ea"/>
        <a:cs typeface="+mn-cs"/>
      </a:defRPr>
    </a:lvl2pPr>
    <a:lvl3pPr marL="4320540" algn="l" defTabSz="4320540" rtl="0" eaLnBrk="1" latinLnBrk="0" hangingPunct="1">
      <a:defRPr sz="8500" kern="1200">
        <a:solidFill>
          <a:schemeClr val="tx1"/>
        </a:solidFill>
        <a:latin typeface="+mn-lt"/>
        <a:ea typeface="+mn-ea"/>
        <a:cs typeface="+mn-cs"/>
      </a:defRPr>
    </a:lvl3pPr>
    <a:lvl4pPr marL="6480810" algn="l" defTabSz="4320540" rtl="0" eaLnBrk="1" latinLnBrk="0" hangingPunct="1">
      <a:defRPr sz="8500" kern="1200">
        <a:solidFill>
          <a:schemeClr val="tx1"/>
        </a:solidFill>
        <a:latin typeface="+mn-lt"/>
        <a:ea typeface="+mn-ea"/>
        <a:cs typeface="+mn-cs"/>
      </a:defRPr>
    </a:lvl4pPr>
    <a:lvl5pPr marL="8641080" algn="l" defTabSz="4320540" rtl="0" eaLnBrk="1" latinLnBrk="0" hangingPunct="1">
      <a:defRPr sz="8500" kern="1200">
        <a:solidFill>
          <a:schemeClr val="tx1"/>
        </a:solidFill>
        <a:latin typeface="+mn-lt"/>
        <a:ea typeface="+mn-ea"/>
        <a:cs typeface="+mn-cs"/>
      </a:defRPr>
    </a:lvl5pPr>
    <a:lvl6pPr marL="10801350" algn="l" defTabSz="4320540" rtl="0" eaLnBrk="1" latinLnBrk="0" hangingPunct="1">
      <a:defRPr sz="8500" kern="1200">
        <a:solidFill>
          <a:schemeClr val="tx1"/>
        </a:solidFill>
        <a:latin typeface="+mn-lt"/>
        <a:ea typeface="+mn-ea"/>
        <a:cs typeface="+mn-cs"/>
      </a:defRPr>
    </a:lvl6pPr>
    <a:lvl7pPr marL="12961620" algn="l" defTabSz="4320540" rtl="0" eaLnBrk="1" latinLnBrk="0" hangingPunct="1">
      <a:defRPr sz="8500" kern="1200">
        <a:solidFill>
          <a:schemeClr val="tx1"/>
        </a:solidFill>
        <a:latin typeface="+mn-lt"/>
        <a:ea typeface="+mn-ea"/>
        <a:cs typeface="+mn-cs"/>
      </a:defRPr>
    </a:lvl7pPr>
    <a:lvl8pPr marL="15121890" algn="l" defTabSz="4320540" rtl="0" eaLnBrk="1" latinLnBrk="0" hangingPunct="1">
      <a:defRPr sz="8500" kern="1200">
        <a:solidFill>
          <a:schemeClr val="tx1"/>
        </a:solidFill>
        <a:latin typeface="+mn-lt"/>
        <a:ea typeface="+mn-ea"/>
        <a:cs typeface="+mn-cs"/>
      </a:defRPr>
    </a:lvl8pPr>
    <a:lvl9pPr marL="17282160" algn="l" defTabSz="4320540" rtl="0" eaLnBrk="1" latinLnBrk="0" hangingPunct="1">
      <a:defRPr sz="8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8">
          <p15:clr>
            <a:srgbClr val="A4A3A4"/>
          </p15:clr>
        </p15:guide>
        <p15:guide id="2" pos="1020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DFA0B4-13E0-F08D-1B1D-291B902E44C2}" v="268" dt="2025-09-26T00:55:24.553"/>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759" autoAdjust="0"/>
    <p:restoredTop sz="95287" autoAdjust="0"/>
  </p:normalViewPr>
  <p:slideViewPr>
    <p:cSldViewPr>
      <p:cViewPr>
        <p:scale>
          <a:sx n="30" d="100"/>
          <a:sy n="30" d="100"/>
        </p:scale>
        <p:origin x="2418" y="78"/>
      </p:cViewPr>
      <p:guideLst>
        <p:guide orient="horz" pos="13608"/>
        <p:guide pos="10206"/>
      </p:guideLst>
    </p:cSldViewPr>
  </p:slideViewPr>
  <p:outlineViewPr>
    <p:cViewPr>
      <p:scale>
        <a:sx n="33" d="100"/>
        <a:sy n="33" d="100"/>
      </p:scale>
      <p:origin x="0" y="115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Ref idx="1001">
        <a:schemeClr val="bg1"/>
      </p:bgRef>
    </p:bg>
    <p:spTree>
      <p:nvGrpSpPr>
        <p:cNvPr id="1" name=""/>
        <p:cNvGrpSpPr/>
        <p:nvPr/>
      </p:nvGrpSpPr>
      <p:grpSpPr>
        <a:xfrm>
          <a:off x="0" y="0"/>
          <a:ext cx="0" cy="0"/>
          <a:chOff x="0" y="0"/>
          <a:chExt cx="0" cy="0"/>
        </a:xfrm>
      </p:grpSpPr>
      <p:sp>
        <p:nvSpPr>
          <p:cNvPr id="2" name="Título 1"/>
          <p:cNvSpPr>
            <a:spLocks noGrp="1"/>
          </p:cNvSpPr>
          <p:nvPr>
            <p:ph type="ctrTitle"/>
          </p:nvPr>
        </p:nvSpPr>
        <p:spPr>
          <a:xfrm>
            <a:off x="2430304" y="13421680"/>
            <a:ext cx="27543443" cy="9261158"/>
          </a:xfrm>
        </p:spPr>
        <p:txBody>
          <a:bodyPr/>
          <a:lstStyle/>
          <a:p>
            <a:r>
              <a:rPr lang="pt-BR"/>
              <a:t>Clique para editar o estilo do título mestre</a:t>
            </a:r>
          </a:p>
        </p:txBody>
      </p:sp>
      <p:sp>
        <p:nvSpPr>
          <p:cNvPr id="3" name="Subtítulo 2"/>
          <p:cNvSpPr>
            <a:spLocks noGrp="1"/>
          </p:cNvSpPr>
          <p:nvPr>
            <p:ph type="subTitle" idx="1"/>
          </p:nvPr>
        </p:nvSpPr>
        <p:spPr>
          <a:xfrm>
            <a:off x="4860608" y="24483060"/>
            <a:ext cx="22682835" cy="11041380"/>
          </a:xfrm>
        </p:spPr>
        <p:txBody>
          <a:bodyPr/>
          <a:lstStyle>
            <a:lvl1pPr marL="0" indent="0" algn="ctr">
              <a:buNone/>
              <a:defRPr>
                <a:solidFill>
                  <a:schemeClr val="tx1">
                    <a:tint val="75000"/>
                  </a:schemeClr>
                </a:solidFill>
              </a:defRPr>
            </a:lvl1pPr>
            <a:lvl2pPr marL="2160270" indent="0" algn="ctr">
              <a:buNone/>
              <a:defRPr>
                <a:solidFill>
                  <a:schemeClr val="tx1">
                    <a:tint val="75000"/>
                  </a:schemeClr>
                </a:solidFill>
              </a:defRPr>
            </a:lvl2pPr>
            <a:lvl3pPr marL="4320540" indent="0" algn="ctr">
              <a:buNone/>
              <a:defRPr>
                <a:solidFill>
                  <a:schemeClr val="tx1">
                    <a:tint val="75000"/>
                  </a:schemeClr>
                </a:solidFill>
              </a:defRPr>
            </a:lvl3pPr>
            <a:lvl4pPr marL="6480810" indent="0" algn="ctr">
              <a:buNone/>
              <a:defRPr>
                <a:solidFill>
                  <a:schemeClr val="tx1">
                    <a:tint val="75000"/>
                  </a:schemeClr>
                </a:solidFill>
              </a:defRPr>
            </a:lvl4pPr>
            <a:lvl5pPr marL="8641080" indent="0" algn="ctr">
              <a:buNone/>
              <a:defRPr>
                <a:solidFill>
                  <a:schemeClr val="tx1">
                    <a:tint val="75000"/>
                  </a:schemeClr>
                </a:solidFill>
              </a:defRPr>
            </a:lvl5pPr>
            <a:lvl6pPr marL="10801350" indent="0" algn="ctr">
              <a:buNone/>
              <a:defRPr>
                <a:solidFill>
                  <a:schemeClr val="tx1">
                    <a:tint val="75000"/>
                  </a:schemeClr>
                </a:solidFill>
              </a:defRPr>
            </a:lvl6pPr>
            <a:lvl7pPr marL="12961620" indent="0" algn="ctr">
              <a:buNone/>
              <a:defRPr>
                <a:solidFill>
                  <a:schemeClr val="tx1">
                    <a:tint val="75000"/>
                  </a:schemeClr>
                </a:solidFill>
              </a:defRPr>
            </a:lvl7pPr>
            <a:lvl8pPr marL="15121890" indent="0" algn="ctr">
              <a:buNone/>
              <a:defRPr>
                <a:solidFill>
                  <a:schemeClr val="tx1">
                    <a:tint val="75000"/>
                  </a:schemeClr>
                </a:solidFill>
              </a:defRPr>
            </a:lvl8pPr>
            <a:lvl9pPr marL="1728216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B34088D9-6F99-4774-8F18-D88D64460132}" type="datetimeFigureOut">
              <a:rPr lang="pt-BR" smtClean="0"/>
              <a:pPr/>
              <a:t>21/11/2025</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A43A5AF6-92C6-4656-8B3D-FE2340DD8210}" type="slidenum">
              <a:rPr lang="pt-BR" smtClean="0"/>
              <a:pPr/>
              <a:t>‹nº›</a:t>
            </a:fld>
            <a:endParaRPr lang="pt-B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alpha val="24000"/>
          </a:schemeClr>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1620203" y="1730219"/>
            <a:ext cx="29163645" cy="7200900"/>
          </a:xfrm>
          <a:prstGeom prst="rect">
            <a:avLst/>
          </a:prstGeom>
        </p:spPr>
        <p:txBody>
          <a:bodyPr vert="horz" lIns="432054" tIns="216027" rIns="432054" bIns="216027"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1620203" y="10081263"/>
            <a:ext cx="29163645" cy="28513567"/>
          </a:xfrm>
          <a:prstGeom prst="rect">
            <a:avLst/>
          </a:prstGeom>
        </p:spPr>
        <p:txBody>
          <a:bodyPr vert="horz" lIns="432054" tIns="216027" rIns="432054" bIns="216027"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1620203" y="40045008"/>
            <a:ext cx="7560945" cy="2300288"/>
          </a:xfrm>
          <a:prstGeom prst="rect">
            <a:avLst/>
          </a:prstGeom>
        </p:spPr>
        <p:txBody>
          <a:bodyPr vert="horz" lIns="432054" tIns="216027" rIns="432054" bIns="216027" rtlCol="0" anchor="ctr"/>
          <a:lstStyle>
            <a:lvl1pPr algn="l">
              <a:defRPr sz="5700">
                <a:solidFill>
                  <a:schemeClr val="tx1">
                    <a:tint val="75000"/>
                  </a:schemeClr>
                </a:solidFill>
              </a:defRPr>
            </a:lvl1pPr>
          </a:lstStyle>
          <a:p>
            <a:fld id="{B34088D9-6F99-4774-8F18-D88D64460132}" type="datetimeFigureOut">
              <a:rPr lang="pt-BR" smtClean="0"/>
              <a:pPr/>
              <a:t>21/11/2025</a:t>
            </a:fld>
            <a:endParaRPr lang="pt-BR"/>
          </a:p>
        </p:txBody>
      </p:sp>
      <p:sp>
        <p:nvSpPr>
          <p:cNvPr id="5" name="Espaço Reservado para Rodapé 4"/>
          <p:cNvSpPr>
            <a:spLocks noGrp="1"/>
          </p:cNvSpPr>
          <p:nvPr>
            <p:ph type="ftr" sz="quarter" idx="3"/>
          </p:nvPr>
        </p:nvSpPr>
        <p:spPr>
          <a:xfrm>
            <a:off x="11071384" y="40045008"/>
            <a:ext cx="10261283" cy="2300288"/>
          </a:xfrm>
          <a:prstGeom prst="rect">
            <a:avLst/>
          </a:prstGeom>
        </p:spPr>
        <p:txBody>
          <a:bodyPr vert="horz" lIns="432054" tIns="216027" rIns="432054" bIns="216027" rtlCol="0" anchor="ctr"/>
          <a:lstStyle>
            <a:lvl1pPr algn="ctr">
              <a:defRPr sz="57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23222903" y="40045008"/>
            <a:ext cx="7560945" cy="2300288"/>
          </a:xfrm>
          <a:prstGeom prst="rect">
            <a:avLst/>
          </a:prstGeom>
        </p:spPr>
        <p:txBody>
          <a:bodyPr vert="horz" lIns="432054" tIns="216027" rIns="432054" bIns="216027" rtlCol="0" anchor="ctr"/>
          <a:lstStyle>
            <a:lvl1pPr algn="r">
              <a:defRPr sz="5700">
                <a:solidFill>
                  <a:schemeClr val="tx1">
                    <a:tint val="75000"/>
                  </a:schemeClr>
                </a:solidFill>
              </a:defRPr>
            </a:lvl1pPr>
          </a:lstStyle>
          <a:p>
            <a:fld id="{A43A5AF6-92C6-4656-8B3D-FE2340DD8210}"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20540" rtl="0" eaLnBrk="1" latinLnBrk="0" hangingPunct="1">
        <a:spcBef>
          <a:spcPct val="0"/>
        </a:spcBef>
        <a:buNone/>
        <a:defRPr sz="20800" kern="1200">
          <a:solidFill>
            <a:schemeClr val="tx1"/>
          </a:solidFill>
          <a:latin typeface="+mj-lt"/>
          <a:ea typeface="+mj-ea"/>
          <a:cs typeface="+mj-cs"/>
        </a:defRPr>
      </a:lvl1pPr>
    </p:titleStyle>
    <p:bodyStyle>
      <a:lvl1pPr marL="1620203" indent="-1620203" algn="l" defTabSz="4320540" rtl="0" eaLnBrk="1" latinLnBrk="0" hangingPunct="1">
        <a:spcBef>
          <a:spcPct val="20000"/>
        </a:spcBef>
        <a:buFont typeface="Arial" pitchFamily="34" charset="0"/>
        <a:buChar char="•"/>
        <a:defRPr sz="15100" kern="1200">
          <a:solidFill>
            <a:schemeClr val="tx1"/>
          </a:solidFill>
          <a:latin typeface="+mn-lt"/>
          <a:ea typeface="+mn-ea"/>
          <a:cs typeface="+mn-cs"/>
        </a:defRPr>
      </a:lvl1pPr>
      <a:lvl2pPr marL="3510439" indent="-1350169" algn="l" defTabSz="4320540" rtl="0" eaLnBrk="1" latinLnBrk="0" hangingPunct="1">
        <a:spcBef>
          <a:spcPct val="20000"/>
        </a:spcBef>
        <a:buFont typeface="Arial" pitchFamily="34" charset="0"/>
        <a:buChar char="–"/>
        <a:defRPr sz="13200" kern="1200">
          <a:solidFill>
            <a:schemeClr val="tx1"/>
          </a:solidFill>
          <a:latin typeface="+mn-lt"/>
          <a:ea typeface="+mn-ea"/>
          <a:cs typeface="+mn-cs"/>
        </a:defRPr>
      </a:lvl2pPr>
      <a:lvl3pPr marL="5400675" indent="-1080135" algn="l" defTabSz="4320540" rtl="0" eaLnBrk="1" latinLnBrk="0" hangingPunct="1">
        <a:spcBef>
          <a:spcPct val="20000"/>
        </a:spcBef>
        <a:buFont typeface="Arial" pitchFamily="34" charset="0"/>
        <a:buChar char="•"/>
        <a:defRPr sz="11300" kern="1200">
          <a:solidFill>
            <a:schemeClr val="tx1"/>
          </a:solidFill>
          <a:latin typeface="+mn-lt"/>
          <a:ea typeface="+mn-ea"/>
          <a:cs typeface="+mn-cs"/>
        </a:defRPr>
      </a:lvl3pPr>
      <a:lvl4pPr marL="756094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4pPr>
      <a:lvl5pPr marL="972121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5pPr>
      <a:lvl6pPr marL="1188148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6pPr>
      <a:lvl7pPr marL="1404175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7pPr>
      <a:lvl8pPr marL="1620202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8pPr>
      <a:lvl9pPr marL="18362295" indent="-1080135" algn="l" defTabSz="4320540" rtl="0" eaLnBrk="1" latinLnBrk="0" hangingPunct="1">
        <a:spcBef>
          <a:spcPct val="20000"/>
        </a:spcBef>
        <a:buFont typeface="Arial" pitchFamily="34" charset="0"/>
        <a:buChar char="•"/>
        <a:defRPr sz="9500" kern="1200">
          <a:solidFill>
            <a:schemeClr val="tx1"/>
          </a:solidFill>
          <a:latin typeface="+mn-lt"/>
          <a:ea typeface="+mn-ea"/>
          <a:cs typeface="+mn-cs"/>
        </a:defRPr>
      </a:lvl9pPr>
    </p:bodyStyle>
    <p:otherStyle>
      <a:defPPr>
        <a:defRPr lang="pt-BR"/>
      </a:defPPr>
      <a:lvl1pPr marL="0" algn="l" defTabSz="4320540" rtl="0" eaLnBrk="1" latinLnBrk="0" hangingPunct="1">
        <a:defRPr sz="8500" kern="1200">
          <a:solidFill>
            <a:schemeClr val="tx1"/>
          </a:solidFill>
          <a:latin typeface="+mn-lt"/>
          <a:ea typeface="+mn-ea"/>
          <a:cs typeface="+mn-cs"/>
        </a:defRPr>
      </a:lvl1pPr>
      <a:lvl2pPr marL="2160270" algn="l" defTabSz="4320540" rtl="0" eaLnBrk="1" latinLnBrk="0" hangingPunct="1">
        <a:defRPr sz="8500" kern="1200">
          <a:solidFill>
            <a:schemeClr val="tx1"/>
          </a:solidFill>
          <a:latin typeface="+mn-lt"/>
          <a:ea typeface="+mn-ea"/>
          <a:cs typeface="+mn-cs"/>
        </a:defRPr>
      </a:lvl2pPr>
      <a:lvl3pPr marL="4320540" algn="l" defTabSz="4320540" rtl="0" eaLnBrk="1" latinLnBrk="0" hangingPunct="1">
        <a:defRPr sz="8500" kern="1200">
          <a:solidFill>
            <a:schemeClr val="tx1"/>
          </a:solidFill>
          <a:latin typeface="+mn-lt"/>
          <a:ea typeface="+mn-ea"/>
          <a:cs typeface="+mn-cs"/>
        </a:defRPr>
      </a:lvl3pPr>
      <a:lvl4pPr marL="6480810" algn="l" defTabSz="4320540" rtl="0" eaLnBrk="1" latinLnBrk="0" hangingPunct="1">
        <a:defRPr sz="8500" kern="1200">
          <a:solidFill>
            <a:schemeClr val="tx1"/>
          </a:solidFill>
          <a:latin typeface="+mn-lt"/>
          <a:ea typeface="+mn-ea"/>
          <a:cs typeface="+mn-cs"/>
        </a:defRPr>
      </a:lvl4pPr>
      <a:lvl5pPr marL="8641080" algn="l" defTabSz="4320540" rtl="0" eaLnBrk="1" latinLnBrk="0" hangingPunct="1">
        <a:defRPr sz="8500" kern="1200">
          <a:solidFill>
            <a:schemeClr val="tx1"/>
          </a:solidFill>
          <a:latin typeface="+mn-lt"/>
          <a:ea typeface="+mn-ea"/>
          <a:cs typeface="+mn-cs"/>
        </a:defRPr>
      </a:lvl5pPr>
      <a:lvl6pPr marL="10801350" algn="l" defTabSz="4320540" rtl="0" eaLnBrk="1" latinLnBrk="0" hangingPunct="1">
        <a:defRPr sz="8500" kern="1200">
          <a:solidFill>
            <a:schemeClr val="tx1"/>
          </a:solidFill>
          <a:latin typeface="+mn-lt"/>
          <a:ea typeface="+mn-ea"/>
          <a:cs typeface="+mn-cs"/>
        </a:defRPr>
      </a:lvl6pPr>
      <a:lvl7pPr marL="12961620" algn="l" defTabSz="4320540" rtl="0" eaLnBrk="1" latinLnBrk="0" hangingPunct="1">
        <a:defRPr sz="8500" kern="1200">
          <a:solidFill>
            <a:schemeClr val="tx1"/>
          </a:solidFill>
          <a:latin typeface="+mn-lt"/>
          <a:ea typeface="+mn-ea"/>
          <a:cs typeface="+mn-cs"/>
        </a:defRPr>
      </a:lvl7pPr>
      <a:lvl8pPr marL="15121890" algn="l" defTabSz="4320540" rtl="0" eaLnBrk="1" latinLnBrk="0" hangingPunct="1">
        <a:defRPr sz="8500" kern="1200">
          <a:solidFill>
            <a:schemeClr val="tx1"/>
          </a:solidFill>
          <a:latin typeface="+mn-lt"/>
          <a:ea typeface="+mn-ea"/>
          <a:cs typeface="+mn-cs"/>
        </a:defRPr>
      </a:lvl8pPr>
      <a:lvl9pPr marL="17282160" algn="l" defTabSz="4320540" rtl="0" eaLnBrk="1" latinLnBrk="0" hangingPunct="1">
        <a:defRPr sz="8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alpha val="24000"/>
          </a:schemeClr>
        </a:solidFill>
        <a:effectLst/>
      </p:bgPr>
    </p:bg>
    <p:spTree>
      <p:nvGrpSpPr>
        <p:cNvPr id="1" name=""/>
        <p:cNvGrpSpPr/>
        <p:nvPr/>
      </p:nvGrpSpPr>
      <p:grpSpPr>
        <a:xfrm>
          <a:off x="0" y="0"/>
          <a:ext cx="0" cy="0"/>
          <a:chOff x="0" y="0"/>
          <a:chExt cx="0" cy="0"/>
        </a:xfrm>
      </p:grpSpPr>
      <p:sp>
        <p:nvSpPr>
          <p:cNvPr id="9" name="Retângulo 8"/>
          <p:cNvSpPr/>
          <p:nvPr/>
        </p:nvSpPr>
        <p:spPr>
          <a:xfrm>
            <a:off x="0" y="-288332"/>
            <a:ext cx="32412863" cy="4320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Título 1"/>
          <p:cNvSpPr>
            <a:spLocks noGrp="1"/>
          </p:cNvSpPr>
          <p:nvPr>
            <p:ph type="ctrTitle"/>
          </p:nvPr>
        </p:nvSpPr>
        <p:spPr>
          <a:xfrm>
            <a:off x="861806" y="4176148"/>
            <a:ext cx="30749932" cy="5790796"/>
          </a:xfrm>
        </p:spPr>
        <p:txBody>
          <a:bodyPr>
            <a:normAutofit fontScale="90000"/>
          </a:bodyPr>
          <a:lstStyle/>
          <a:p>
            <a:pPr hangingPunct="0"/>
            <a:r>
              <a:rPr lang="pt-BR" sz="5400" b="1" dirty="0"/>
              <a:t>Recomendação Personalizada de Filmes: Desenvolvimento de Software e Prova de Conceito de Feature </a:t>
            </a:r>
            <a:r>
              <a:rPr lang="pt-BR" sz="5400" b="1" dirty="0" err="1"/>
              <a:t>Weighting</a:t>
            </a:r>
            <a:r>
              <a:rPr lang="pt-BR" sz="5400" b="1" dirty="0"/>
              <a:t> (Utilizando </a:t>
            </a:r>
            <a:r>
              <a:rPr lang="pt-BR" sz="5400" b="1" dirty="0" err="1"/>
              <a:t>Streamlit</a:t>
            </a:r>
            <a:r>
              <a:rPr lang="pt-BR" sz="5400" b="1" dirty="0"/>
              <a:t>)</a:t>
            </a:r>
            <a:br>
              <a:rPr lang="pt-BR" sz="5400" b="1" dirty="0"/>
            </a:br>
            <a:br>
              <a:rPr lang="pt-BR" sz="5400" dirty="0"/>
            </a:br>
            <a:r>
              <a:rPr lang="pt-BR" sz="4400" b="1" dirty="0"/>
              <a:t>Glenda Souza Fernandes Dos Santos; Isaac Oliveira Dias; João Luccas Lordelo Marques; Marcus Vinicius Lameu Lima; Paulo Henrique Pereira Araujo Piedade; Adailton de Jesus Cerqueira Junior.</a:t>
            </a:r>
            <a:br>
              <a:rPr lang="pt-BR" sz="4400" b="1" dirty="0"/>
            </a:br>
            <a:br>
              <a:rPr lang="pt-BR" sz="4400" b="1" dirty="0"/>
            </a:br>
            <a:r>
              <a:rPr lang="pt-BR" sz="4400" dirty="0"/>
              <a:t>Universidade Salvador – Salvador – BA – Brasil</a:t>
            </a:r>
            <a:br>
              <a:rPr lang="pt-BR" sz="9600" dirty="0"/>
            </a:br>
            <a:endParaRPr lang="pt-BR" sz="4400" dirty="0"/>
          </a:p>
        </p:txBody>
      </p:sp>
      <p:sp>
        <p:nvSpPr>
          <p:cNvPr id="3" name="Subtítulo 2"/>
          <p:cNvSpPr>
            <a:spLocks noGrp="1"/>
          </p:cNvSpPr>
          <p:nvPr>
            <p:ph type="subTitle" idx="1"/>
          </p:nvPr>
        </p:nvSpPr>
        <p:spPr>
          <a:xfrm>
            <a:off x="626837" y="10566696"/>
            <a:ext cx="14785564" cy="27345816"/>
          </a:xfrm>
          <a:ln>
            <a:noFill/>
          </a:ln>
        </p:spPr>
        <p:txBody>
          <a:bodyPr vert="horz" lIns="432054" tIns="216027" rIns="432054" bIns="216027" rtlCol="0" anchor="t">
            <a:noAutofit/>
          </a:bodyPr>
          <a:lstStyle/>
          <a:p>
            <a:pPr algn="just">
              <a:spcBef>
                <a:spcPts val="0"/>
              </a:spcBef>
            </a:pPr>
            <a:r>
              <a:rPr lang="pt-BR" sz="6600" b="1" dirty="0">
                <a:solidFill>
                  <a:schemeClr val="tx1"/>
                </a:solidFill>
              </a:rPr>
              <a:t>INTRODUÇÃO</a:t>
            </a:r>
            <a:endParaRPr lang="pt-BR" sz="7500" b="1" dirty="0">
              <a:solidFill>
                <a:schemeClr val="tx1"/>
              </a:solidFill>
            </a:endParaRPr>
          </a:p>
          <a:p>
            <a:pPr algn="just">
              <a:spcBef>
                <a:spcPts val="0"/>
              </a:spcBef>
            </a:pPr>
            <a:r>
              <a:rPr lang="pt-BR" sz="3200" dirty="0">
                <a:solidFill>
                  <a:schemeClr val="tx1"/>
                </a:solidFill>
              </a:rPr>
              <a:t>O desafio da sobrecarga de informação em plataformas de mídia é mitigado pelos Sistemas de Recomendação (SR). Este trabalho foca na arquitetura Baseada em Conteúdo (</a:t>
            </a:r>
            <a:r>
              <a:rPr lang="pt-BR" sz="3200" dirty="0" err="1">
                <a:solidFill>
                  <a:schemeClr val="tx1"/>
                </a:solidFill>
              </a:rPr>
              <a:t>Content-Based</a:t>
            </a:r>
            <a:r>
              <a:rPr lang="pt-BR" sz="3200" dirty="0">
                <a:solidFill>
                  <a:schemeClr val="tx1"/>
                </a:solidFill>
              </a:rPr>
              <a:t>), que frequentemente falha ao atribuir pesos uniformes às features dos itens.</a:t>
            </a:r>
          </a:p>
          <a:p>
            <a:pPr algn="just">
              <a:spcBef>
                <a:spcPts val="0"/>
              </a:spcBef>
            </a:pPr>
            <a:r>
              <a:rPr lang="pt-BR" sz="3200" dirty="0">
                <a:solidFill>
                  <a:schemeClr val="tx1"/>
                </a:solidFill>
              </a:rPr>
              <a:t>O problema de pesquisa é como otimizar a precisão do SR </a:t>
            </a:r>
            <a:r>
              <a:rPr lang="pt-BR" sz="3200" dirty="0" err="1">
                <a:solidFill>
                  <a:schemeClr val="tx1"/>
                </a:solidFill>
              </a:rPr>
              <a:t>Content-Based</a:t>
            </a:r>
            <a:r>
              <a:rPr lang="pt-BR" sz="3200" dirty="0">
                <a:solidFill>
                  <a:schemeClr val="tx1"/>
                </a:solidFill>
              </a:rPr>
              <a:t> através da ponderação dinâmica e estratégica de características. O Objetivo Geral é desenvolver um sistema </a:t>
            </a:r>
            <a:r>
              <a:rPr lang="pt-BR" sz="3200" dirty="0" err="1">
                <a:solidFill>
                  <a:schemeClr val="tx1"/>
                </a:solidFill>
              </a:rPr>
              <a:t>Content-Based</a:t>
            </a:r>
            <a:r>
              <a:rPr lang="pt-BR" sz="3200" dirty="0">
                <a:solidFill>
                  <a:schemeClr val="tx1"/>
                </a:solidFill>
              </a:rPr>
              <a:t> aprimorado com um módulo de Ponderação de Características (Feature </a:t>
            </a:r>
            <a:r>
              <a:rPr lang="pt-BR" sz="3200" dirty="0" err="1">
                <a:solidFill>
                  <a:schemeClr val="tx1"/>
                </a:solidFill>
              </a:rPr>
              <a:t>Weighting</a:t>
            </a:r>
            <a:r>
              <a:rPr lang="pt-BR" sz="3200" dirty="0">
                <a:solidFill>
                  <a:schemeClr val="tx1"/>
                </a:solidFill>
              </a:rPr>
              <a:t>) e uma interface web funcional.</a:t>
            </a:r>
          </a:p>
          <a:p>
            <a:pPr algn="just">
              <a:spcBef>
                <a:spcPts val="0"/>
              </a:spcBef>
            </a:pPr>
            <a:r>
              <a:rPr lang="pt-BR" sz="3200" dirty="0">
                <a:solidFill>
                  <a:schemeClr val="tx1"/>
                </a:solidFill>
              </a:rPr>
              <a:t>A metodologia é de Desenvolvimento Tecnológico e Experimental, utilizando Similaridade de Cosseno sobre vetores criados via </a:t>
            </a:r>
            <a:r>
              <a:rPr lang="pt-BR" sz="3200" dirty="0" err="1">
                <a:solidFill>
                  <a:schemeClr val="tx1"/>
                </a:solidFill>
              </a:rPr>
              <a:t>One</a:t>
            </a:r>
            <a:r>
              <a:rPr lang="pt-BR" sz="3200" dirty="0">
                <a:solidFill>
                  <a:schemeClr val="tx1"/>
                </a:solidFill>
              </a:rPr>
              <a:t>-Hot </a:t>
            </a:r>
            <a:r>
              <a:rPr lang="pt-BR" sz="3200" dirty="0" err="1">
                <a:solidFill>
                  <a:schemeClr val="tx1"/>
                </a:solidFill>
              </a:rPr>
              <a:t>Encoding</a:t>
            </a:r>
            <a:r>
              <a:rPr lang="pt-BR" sz="3200" dirty="0">
                <a:solidFill>
                  <a:schemeClr val="tx1"/>
                </a:solidFill>
              </a:rPr>
              <a:t> (dados IMDB). O projeto é dividido em Treinamento (construção da matriz de similaridade) e Inferência (aplicação dos pesos dinâmicos via </a:t>
            </a:r>
            <a:r>
              <a:rPr lang="pt-BR" sz="3200" dirty="0" err="1">
                <a:solidFill>
                  <a:schemeClr val="tx1"/>
                </a:solidFill>
              </a:rPr>
              <a:t>Streamlit</a:t>
            </a:r>
            <a:r>
              <a:rPr lang="pt-BR" sz="3200" dirty="0">
                <a:solidFill>
                  <a:schemeClr val="tx1"/>
                </a:solidFill>
              </a:rPr>
              <a:t>).</a:t>
            </a:r>
            <a:endParaRPr lang="pt-BR" sz="7500" b="1" dirty="0">
              <a:solidFill>
                <a:schemeClr val="accent1">
                  <a:lumMod val="75000"/>
                </a:schemeClr>
              </a:solidFill>
            </a:endParaRPr>
          </a:p>
          <a:p>
            <a:pPr algn="just">
              <a:spcBef>
                <a:spcPts val="0"/>
              </a:spcBef>
            </a:pPr>
            <a:r>
              <a:rPr lang="pt-BR" sz="6600" b="1" dirty="0">
                <a:solidFill>
                  <a:schemeClr val="tx1"/>
                </a:solidFill>
              </a:rPr>
              <a:t>MÉTODOS</a:t>
            </a:r>
            <a:endParaRPr lang="pt-BR" sz="7500" b="1" dirty="0">
              <a:solidFill>
                <a:schemeClr val="tx1"/>
              </a:solidFill>
            </a:endParaRPr>
          </a:p>
          <a:p>
            <a:pPr algn="just">
              <a:spcBef>
                <a:spcPts val="0"/>
              </a:spcBef>
            </a:pPr>
            <a:r>
              <a:rPr lang="pt-BR" sz="3200" dirty="0">
                <a:solidFill>
                  <a:schemeClr val="tx1"/>
                </a:solidFill>
              </a:rPr>
              <a:t>Treinamento: O script inicial (treinamento_modelo_filmes.py) realiza o pré-processamento de dados do IMDB, incluindo a Codificação </a:t>
            </a:r>
            <a:r>
              <a:rPr lang="pt-BR" sz="3200" dirty="0" err="1">
                <a:solidFill>
                  <a:schemeClr val="tx1"/>
                </a:solidFill>
              </a:rPr>
              <a:t>One</a:t>
            </a:r>
            <a:r>
              <a:rPr lang="pt-BR" sz="3200" dirty="0">
                <a:solidFill>
                  <a:schemeClr val="tx1"/>
                </a:solidFill>
              </a:rPr>
              <a:t>-Hot para transformar características categóricas (Gênero, Diretor, Ator, etc.) em vetores numéricos. Em seguida, calcula a Matriz de Similaridade de Cosseno entre os filmes, essencial para o </a:t>
            </a:r>
            <a:r>
              <a:rPr lang="pt-BR" sz="3200" dirty="0" err="1">
                <a:solidFill>
                  <a:schemeClr val="tx1"/>
                </a:solidFill>
              </a:rPr>
              <a:t>algoritmo.Inferência</a:t>
            </a:r>
            <a:r>
              <a:rPr lang="pt-BR" sz="3200" dirty="0">
                <a:solidFill>
                  <a:schemeClr val="tx1"/>
                </a:solidFill>
              </a:rPr>
              <a:t> e Usabilidade: O aplicativo (app_filmes.py), construído com </a:t>
            </a:r>
            <a:r>
              <a:rPr lang="pt-BR" sz="3200" dirty="0" err="1">
                <a:solidFill>
                  <a:schemeClr val="tx1"/>
                </a:solidFill>
              </a:rPr>
              <a:t>Streamlit</a:t>
            </a:r>
            <a:r>
              <a:rPr lang="pt-BR" sz="3200" dirty="0">
                <a:solidFill>
                  <a:schemeClr val="tx1"/>
                </a:solidFill>
              </a:rPr>
              <a:t>, implementa a fase de recomendação em tempo real (Usuário-para-Item). O sistema aplica a melhoria metodológica de Ponderação de Características (Feature </a:t>
            </a:r>
            <a:r>
              <a:rPr lang="pt-BR" sz="3200" dirty="0" err="1">
                <a:solidFill>
                  <a:schemeClr val="tx1"/>
                </a:solidFill>
              </a:rPr>
              <a:t>Weighting</a:t>
            </a:r>
            <a:r>
              <a:rPr lang="pt-BR" sz="3200" dirty="0">
                <a:solidFill>
                  <a:schemeClr val="tx1"/>
                </a:solidFill>
              </a:rPr>
              <a:t>), atribuindo pesos variáveis (e.g., Gênero pesa mais que Produtora) de forma dinâmica, conforme a seleção do usuário, para otimizar a precisão das </a:t>
            </a:r>
            <a:r>
              <a:rPr lang="pt-BR" sz="3200" dirty="0" err="1">
                <a:solidFill>
                  <a:schemeClr val="tx1"/>
                </a:solidFill>
              </a:rPr>
              <a:t>sugestões.Embasamento</a:t>
            </a:r>
            <a:r>
              <a:rPr lang="pt-BR" sz="3200" dirty="0">
                <a:solidFill>
                  <a:schemeClr val="tx1"/>
                </a:solidFill>
              </a:rPr>
              <a:t>: A arquitetura é fundamentada na Modelagem de Itens e na Vetorização de Características, onde a similaridade é medida pela proximidade dos vetores no espaço multidimensional.</a:t>
            </a:r>
          </a:p>
          <a:p>
            <a:pPr algn="just">
              <a:spcBef>
                <a:spcPts val="0"/>
              </a:spcBef>
            </a:pPr>
            <a:endParaRPr lang="pt-BR" sz="2800" dirty="0">
              <a:solidFill>
                <a:schemeClr val="tx1"/>
              </a:solidFill>
            </a:endParaRPr>
          </a:p>
          <a:p>
            <a:pPr algn="just">
              <a:spcBef>
                <a:spcPts val="0"/>
              </a:spcBef>
            </a:pPr>
            <a:r>
              <a:rPr lang="pt-BR" sz="6600" b="1" dirty="0">
                <a:solidFill>
                  <a:schemeClr val="tx1"/>
                </a:solidFill>
              </a:rPr>
              <a:t>RESULTADOS</a:t>
            </a:r>
          </a:p>
          <a:p>
            <a:pPr algn="just">
              <a:spcBef>
                <a:spcPts val="0"/>
              </a:spcBef>
            </a:pPr>
            <a:r>
              <a:rPr lang="pt-BR" sz="3200" dirty="0">
                <a:solidFill>
                  <a:schemeClr val="tx1"/>
                </a:solidFill>
              </a:rPr>
              <a:t>Esta seção apresenta e analisa o desempenho do Sistema de Recomendação </a:t>
            </a:r>
            <a:r>
              <a:rPr lang="pt-BR" sz="3200" dirty="0" err="1">
                <a:solidFill>
                  <a:schemeClr val="tx1"/>
                </a:solidFill>
              </a:rPr>
              <a:t>Content-Based</a:t>
            </a:r>
            <a:r>
              <a:rPr lang="pt-BR" sz="3200" dirty="0">
                <a:solidFill>
                  <a:schemeClr val="tx1"/>
                </a:solidFill>
              </a:rPr>
              <a:t> aprimorado. A coerência lógica das recomendações foi avaliada utilizando a Média de </a:t>
            </a:r>
            <a:r>
              <a:rPr lang="pt-BR" sz="3200" dirty="0" err="1">
                <a:solidFill>
                  <a:schemeClr val="tx1"/>
                </a:solidFill>
              </a:rPr>
              <a:t>Jaccard</a:t>
            </a:r>
            <a:r>
              <a:rPr lang="pt-BR" sz="3200" dirty="0">
                <a:solidFill>
                  <a:schemeClr val="tx1"/>
                </a:solidFill>
              </a:rPr>
              <a:t>, que compara as características definidas nos Perfis Sintéticos com as características presentes nos filmes sugeridos. O índice médio encontrado foi de 0,2513 (25,13%), o que indica que aproximadamente um quarto das features fornecidas pelo usuário aparecem, em média, nos filmes recomendados. Observou-se uma diferença clara entre os tipos de perfis avaliados: os Perfis Comuns, baseados em categorias frequentes no conjunto de dados, apresentaram os melhores índices de coerência, pois o modelo encontra diversas instâncias semelhantes no treinamento, resultando em maior similaridade. Em contraste, os Perfis Desconexos, compostos por combinações raras ou pouco representadas, geraram baixa Coerência </a:t>
            </a:r>
            <a:r>
              <a:rPr lang="pt-BR" sz="3200" dirty="0" err="1">
                <a:solidFill>
                  <a:schemeClr val="tx1"/>
                </a:solidFill>
              </a:rPr>
              <a:t>Jaccard</a:t>
            </a:r>
            <a:r>
              <a:rPr lang="pt-BR" sz="3200" dirty="0">
                <a:solidFill>
                  <a:schemeClr val="tx1"/>
                </a:solidFill>
              </a:rPr>
              <a:t>. Isso ocorre devido à forte </a:t>
            </a:r>
            <a:r>
              <a:rPr lang="pt-BR" sz="3200" dirty="0" err="1">
                <a:solidFill>
                  <a:schemeClr val="tx1"/>
                </a:solidFill>
              </a:rPr>
              <a:t>esparsidade</a:t>
            </a:r>
            <a:r>
              <a:rPr lang="pt-BR" sz="3200" dirty="0">
                <a:solidFill>
                  <a:schemeClr val="tx1"/>
                </a:solidFill>
              </a:rPr>
              <a:t> dos vetores </a:t>
            </a:r>
            <a:r>
              <a:rPr lang="pt-BR" sz="3200" dirty="0" err="1">
                <a:solidFill>
                  <a:schemeClr val="tx1"/>
                </a:solidFill>
              </a:rPr>
              <a:t>One</a:t>
            </a:r>
            <a:r>
              <a:rPr lang="pt-BR" sz="3200" dirty="0">
                <a:solidFill>
                  <a:schemeClr val="tx1"/>
                </a:solidFill>
              </a:rPr>
              <a:t>-Hot e à dependência direta do modelo em relação à distribuição dos dados, o que reduz a qualidade das recomendações para categorias pouco frequentes.</a:t>
            </a:r>
          </a:p>
          <a:p>
            <a:pPr algn="just">
              <a:spcBef>
                <a:spcPts val="0"/>
              </a:spcBef>
            </a:pPr>
            <a:r>
              <a:rPr lang="pt-BR" sz="3200" dirty="0">
                <a:solidFill>
                  <a:schemeClr val="tx1"/>
                </a:solidFill>
              </a:rPr>
              <a:t>A capacidade de discriminação do sistema foi analisada por meio da Curva ROC, considerando filmes com rating igual ou superior a 7,0 como relevantes. O valor de AUC obtido foi de 0,5854, indicando que o modelo possui uma probabilidade de aproximadamente 59% de classificar corretamente um filme relevante acima de um irrelevante. Embora esse valor seja superior ao desempenho aleatório, ele revela que o sistema ainda necessita de ajustes na ponderação das características e em sua representação vetorial para melhorar a precisão e a relevância das recomendações apresentadas ao usuário. Esses resultados demonstram tanto a eficácia parcial do modelo quanto as oportunidades claras de aprimoramento para versões futuras.</a:t>
            </a:r>
          </a:p>
        </p:txBody>
      </p:sp>
      <p:sp>
        <p:nvSpPr>
          <p:cNvPr id="15" name="Subtítulo 2"/>
          <p:cNvSpPr txBox="1">
            <a:spLocks/>
          </p:cNvSpPr>
          <p:nvPr/>
        </p:nvSpPr>
        <p:spPr>
          <a:xfrm>
            <a:off x="16012037" y="10772076"/>
            <a:ext cx="15576604" cy="27345816"/>
          </a:xfrm>
          <a:prstGeom prst="rect">
            <a:avLst/>
          </a:prstGeom>
          <a:noFill/>
          <a:ln>
            <a:noFill/>
          </a:ln>
        </p:spPr>
        <p:txBody>
          <a:bodyPr vert="horz" lIns="432054" tIns="216027" rIns="432054" bIns="216027" rtlCol="0" anchor="t">
            <a:noAutofit/>
          </a:bodyPr>
          <a:lstStyle/>
          <a:p>
            <a:r>
              <a:rPr lang="pt-BR" sz="4400" b="1" dirty="0"/>
              <a:t>Tabela: Coerência </a:t>
            </a:r>
            <a:r>
              <a:rPr lang="pt-BR" sz="4400" b="1" dirty="0" err="1"/>
              <a:t>Jaccard</a:t>
            </a:r>
            <a:r>
              <a:rPr lang="pt-BR" sz="4400" b="1" dirty="0"/>
              <a:t> por Perfil de Entrada</a:t>
            </a: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4000" b="1" dirty="0"/>
          </a:p>
          <a:p>
            <a:r>
              <a:rPr lang="pt-BR" sz="4400" b="1" dirty="0"/>
              <a:t>Figura – Curva ROC para Avaliação de Relevância de Filmes (Rating $\</a:t>
            </a:r>
            <a:r>
              <a:rPr lang="pt-BR" sz="4400" b="1" dirty="0" err="1"/>
              <a:t>geq</a:t>
            </a:r>
            <a:r>
              <a:rPr lang="pt-BR" sz="4400" b="1" dirty="0"/>
              <a:t> 7.0$)</a:t>
            </a:r>
            <a:endParaRPr lang="pt-BR" sz="9600" b="1" dirty="0"/>
          </a:p>
          <a:p>
            <a:pPr algn="just">
              <a:spcBef>
                <a:spcPts val="0"/>
              </a:spcBef>
            </a:pPr>
            <a:endParaRPr lang="pt-BR" sz="9600" b="1" dirty="0"/>
          </a:p>
          <a:p>
            <a:pPr algn="just">
              <a:spcBef>
                <a:spcPts val="0"/>
              </a:spcBef>
            </a:pPr>
            <a:endParaRPr lang="pt-BR" sz="9600" b="1" dirty="0"/>
          </a:p>
          <a:p>
            <a:pPr algn="just">
              <a:spcBef>
                <a:spcPts val="0"/>
              </a:spcBef>
            </a:pPr>
            <a:endParaRPr lang="pt-BR" sz="9600" b="1" dirty="0"/>
          </a:p>
          <a:p>
            <a:pPr algn="just"/>
            <a:endParaRPr lang="pt-BR" sz="9600" b="1" dirty="0"/>
          </a:p>
          <a:p>
            <a:pPr algn="just"/>
            <a:endParaRPr lang="pt-BR" sz="9600" b="1" dirty="0"/>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endParaRPr lang="pt-BR" sz="6600" b="1" dirty="0"/>
          </a:p>
          <a:p>
            <a:pPr algn="just">
              <a:spcBef>
                <a:spcPts val="0"/>
              </a:spcBef>
            </a:pPr>
            <a:r>
              <a:rPr lang="pt-BR" sz="6600" b="1" dirty="0"/>
              <a:t>CONCLUSÃO</a:t>
            </a:r>
            <a:endParaRPr lang="pt-BR" sz="9600" b="1" dirty="0"/>
          </a:p>
          <a:p>
            <a:pPr algn="just"/>
            <a:r>
              <a:rPr lang="pt-BR" sz="3200" dirty="0"/>
              <a:t>O trabalho desenvolveu e avaliou um Sistema de Recomendação </a:t>
            </a:r>
            <a:r>
              <a:rPr lang="pt-BR" sz="3200" dirty="0" err="1"/>
              <a:t>Content-Based</a:t>
            </a:r>
            <a:r>
              <a:rPr lang="pt-BR" sz="3200" dirty="0"/>
              <a:t> com ponderação de características e Similaridade de Cosseno aplicado aos dados do IMDB. Os testes com perfis sintéticos mostraram coerência nas recomendações quando as características eram frequentes, porém baixo desempenho em perfis com features raras devido à </a:t>
            </a:r>
            <a:r>
              <a:rPr lang="pt-BR" sz="3200" dirty="0" err="1"/>
              <a:t>esparsidade</a:t>
            </a:r>
            <a:r>
              <a:rPr lang="pt-BR" sz="3200" dirty="0"/>
              <a:t> dos dados. A Curva ROC (AUC = 0,5854) indicou capacidade moderada de discriminação entre filmes relevantes e irrelevantes, evidenciando a necessidade de ajustes nos pesos. O sistema e a interface em </a:t>
            </a:r>
            <a:r>
              <a:rPr lang="pt-BR" sz="3200" dirty="0" err="1"/>
              <a:t>Streamlit</a:t>
            </a:r>
            <a:r>
              <a:rPr lang="pt-BR" sz="3200" dirty="0"/>
              <a:t> configuram uma prova de conceito funcional e base para melhorias. Como trabalhos futuros, propõem-se otimização dinâmica da ponderação, integração com métodos híbridos e avaliação de usabilidade com usuários reais.</a:t>
            </a:r>
          </a:p>
        </p:txBody>
      </p:sp>
      <p:sp>
        <p:nvSpPr>
          <p:cNvPr id="4" name="Rectangle 3"/>
          <p:cNvSpPr>
            <a:spLocks noChangeArrowheads="1"/>
          </p:cNvSpPr>
          <p:nvPr/>
        </p:nvSpPr>
        <p:spPr bwMode="auto">
          <a:xfrm>
            <a:off x="0" y="0"/>
            <a:ext cx="3240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5" name="Rectangle 4"/>
          <p:cNvSpPr>
            <a:spLocks noChangeArrowheads="1"/>
          </p:cNvSpPr>
          <p:nvPr/>
        </p:nvSpPr>
        <p:spPr bwMode="auto">
          <a:xfrm>
            <a:off x="0" y="457200"/>
            <a:ext cx="32404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pt-BR"/>
          </a:p>
        </p:txBody>
      </p:sp>
      <p:sp>
        <p:nvSpPr>
          <p:cNvPr id="17" name="Subtítulo 2"/>
          <p:cNvSpPr txBox="1">
            <a:spLocks/>
          </p:cNvSpPr>
          <p:nvPr/>
        </p:nvSpPr>
        <p:spPr>
          <a:xfrm>
            <a:off x="874034" y="37912512"/>
            <a:ext cx="30749932" cy="3600400"/>
          </a:xfrm>
          <a:prstGeom prst="rect">
            <a:avLst/>
          </a:prstGeom>
          <a:ln>
            <a:noFill/>
          </a:ln>
        </p:spPr>
        <p:txBody>
          <a:bodyPr vert="horz" lIns="432054" tIns="216027" rIns="432054" bIns="216027" rtlCol="0" anchor="t">
            <a:noAutofit/>
          </a:bodyPr>
          <a:lstStyle>
            <a:lvl1pPr marL="0" indent="0" algn="ctr" defTabSz="4320540" rtl="0" eaLnBrk="1" latinLnBrk="0" hangingPunct="1">
              <a:spcBef>
                <a:spcPct val="20000"/>
              </a:spcBef>
              <a:buFont typeface="Arial" pitchFamily="34" charset="0"/>
              <a:buNone/>
              <a:defRPr sz="15100" kern="1200">
                <a:solidFill>
                  <a:schemeClr val="tx1">
                    <a:tint val="75000"/>
                  </a:schemeClr>
                </a:solidFill>
                <a:latin typeface="+mn-lt"/>
                <a:ea typeface="+mn-ea"/>
                <a:cs typeface="+mn-cs"/>
              </a:defRPr>
            </a:lvl1pPr>
            <a:lvl2pPr marL="2160270" indent="0" algn="ctr" defTabSz="4320540" rtl="0" eaLnBrk="1" latinLnBrk="0" hangingPunct="1">
              <a:spcBef>
                <a:spcPct val="20000"/>
              </a:spcBef>
              <a:buFont typeface="Arial" pitchFamily="34" charset="0"/>
              <a:buNone/>
              <a:defRPr sz="13200" kern="1200">
                <a:solidFill>
                  <a:schemeClr val="tx1">
                    <a:tint val="75000"/>
                  </a:schemeClr>
                </a:solidFill>
                <a:latin typeface="+mn-lt"/>
                <a:ea typeface="+mn-ea"/>
                <a:cs typeface="+mn-cs"/>
              </a:defRPr>
            </a:lvl2pPr>
            <a:lvl3pPr marL="4320540" indent="0" algn="ctr" defTabSz="4320540" rtl="0" eaLnBrk="1" latinLnBrk="0" hangingPunct="1">
              <a:spcBef>
                <a:spcPct val="20000"/>
              </a:spcBef>
              <a:buFont typeface="Arial" pitchFamily="34" charset="0"/>
              <a:buNone/>
              <a:defRPr sz="11300" kern="1200">
                <a:solidFill>
                  <a:schemeClr val="tx1">
                    <a:tint val="75000"/>
                  </a:schemeClr>
                </a:solidFill>
                <a:latin typeface="+mn-lt"/>
                <a:ea typeface="+mn-ea"/>
                <a:cs typeface="+mn-cs"/>
              </a:defRPr>
            </a:lvl3pPr>
            <a:lvl4pPr marL="648081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4pPr>
            <a:lvl5pPr marL="864108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5pPr>
            <a:lvl6pPr marL="1080135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6pPr>
            <a:lvl7pPr marL="1296162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7pPr>
            <a:lvl8pPr marL="1512189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8pPr>
            <a:lvl9pPr marL="17282160" indent="0" algn="ctr" defTabSz="4320540" rtl="0" eaLnBrk="1" latinLnBrk="0" hangingPunct="1">
              <a:spcBef>
                <a:spcPct val="20000"/>
              </a:spcBef>
              <a:buFont typeface="Arial" pitchFamily="34" charset="0"/>
              <a:buNone/>
              <a:defRPr sz="9500" kern="1200">
                <a:solidFill>
                  <a:schemeClr val="tx1">
                    <a:tint val="75000"/>
                  </a:schemeClr>
                </a:solidFill>
                <a:latin typeface="+mn-lt"/>
                <a:ea typeface="+mn-ea"/>
                <a:cs typeface="+mn-cs"/>
              </a:defRPr>
            </a:lvl9pPr>
          </a:lstStyle>
          <a:p>
            <a:pPr algn="just">
              <a:spcBef>
                <a:spcPts val="0"/>
              </a:spcBef>
            </a:pPr>
            <a:r>
              <a:rPr lang="pt-BR" sz="6600" b="1" dirty="0">
                <a:solidFill>
                  <a:schemeClr val="tx1"/>
                </a:solidFill>
              </a:rPr>
              <a:t>REFERÊNCIAS BIBLIOGRÁFICAS</a:t>
            </a:r>
          </a:p>
          <a:p>
            <a:pPr algn="just">
              <a:spcBef>
                <a:spcPts val="0"/>
              </a:spcBef>
            </a:pPr>
            <a:endParaRPr lang="pt-BR" sz="2800" b="1" dirty="0">
              <a:solidFill>
                <a:schemeClr val="tx1"/>
              </a:solidFill>
            </a:endParaRPr>
          </a:p>
          <a:p>
            <a:pPr algn="just">
              <a:spcBef>
                <a:spcPts val="0"/>
              </a:spcBef>
            </a:pPr>
            <a:r>
              <a:rPr lang="pt-BR" sz="3200" b="1" dirty="0">
                <a:solidFill>
                  <a:schemeClr val="tx1"/>
                </a:solidFill>
              </a:rPr>
              <a:t>1. RICCI, Francesco et al. </a:t>
            </a:r>
            <a:r>
              <a:rPr lang="pt-BR" sz="3200" b="1" dirty="0" err="1">
                <a:solidFill>
                  <a:schemeClr val="tx1"/>
                </a:solidFill>
              </a:rPr>
              <a:t>Recommender</a:t>
            </a:r>
            <a:r>
              <a:rPr lang="pt-BR" sz="3200" b="1" dirty="0">
                <a:solidFill>
                  <a:schemeClr val="tx1"/>
                </a:solidFill>
              </a:rPr>
              <a:t> systems handbook. New York: Springer, 2015.</a:t>
            </a:r>
            <a:endParaRPr lang="pt-BR" sz="3200" dirty="0">
              <a:solidFill>
                <a:schemeClr val="tx1"/>
              </a:solidFill>
              <a:ea typeface="Calibri"/>
              <a:cs typeface="Calibri"/>
            </a:endParaRPr>
          </a:p>
          <a:p>
            <a:pPr algn="just">
              <a:spcBef>
                <a:spcPts val="0"/>
              </a:spcBef>
            </a:pPr>
            <a:endParaRPr lang="pt-BR" sz="3200" b="1" dirty="0">
              <a:solidFill>
                <a:schemeClr val="tx1"/>
              </a:solidFill>
            </a:endParaRPr>
          </a:p>
          <a:p>
            <a:pPr algn="just">
              <a:spcBef>
                <a:spcPts val="0"/>
              </a:spcBef>
            </a:pPr>
            <a:r>
              <a:rPr lang="pt-BR" sz="3200" b="1" dirty="0">
                <a:solidFill>
                  <a:schemeClr val="tx1"/>
                </a:solidFill>
              </a:rPr>
              <a:t>2. HAN, </a:t>
            </a:r>
            <a:r>
              <a:rPr lang="pt-BR" sz="3200" b="1" dirty="0" err="1">
                <a:solidFill>
                  <a:schemeClr val="tx1"/>
                </a:solidFill>
              </a:rPr>
              <a:t>Jiawei</a:t>
            </a:r>
            <a:r>
              <a:rPr lang="pt-BR" sz="3200" b="1" dirty="0">
                <a:solidFill>
                  <a:schemeClr val="tx1"/>
                </a:solidFill>
              </a:rPr>
              <a:t>; PEI, Jian; KAMBER, Micheline. Data Mining: </a:t>
            </a:r>
            <a:r>
              <a:rPr lang="pt-BR" sz="3200" b="1" dirty="0" err="1">
                <a:solidFill>
                  <a:schemeClr val="tx1"/>
                </a:solidFill>
              </a:rPr>
              <a:t>Concepts</a:t>
            </a:r>
            <a:r>
              <a:rPr lang="pt-BR" sz="3200" b="1" dirty="0">
                <a:solidFill>
                  <a:schemeClr val="tx1"/>
                </a:solidFill>
              </a:rPr>
              <a:t> </a:t>
            </a:r>
            <a:r>
              <a:rPr lang="pt-BR" sz="3200" b="1" dirty="0" err="1">
                <a:solidFill>
                  <a:schemeClr val="tx1"/>
                </a:solidFill>
              </a:rPr>
              <a:t>and</a:t>
            </a:r>
            <a:r>
              <a:rPr lang="pt-BR" sz="3200" b="1" dirty="0">
                <a:solidFill>
                  <a:schemeClr val="tx1"/>
                </a:solidFill>
              </a:rPr>
              <a:t> </a:t>
            </a:r>
            <a:r>
              <a:rPr lang="pt-BR" sz="3200" b="1" dirty="0" err="1">
                <a:solidFill>
                  <a:schemeClr val="tx1"/>
                </a:solidFill>
              </a:rPr>
              <a:t>Techniques</a:t>
            </a:r>
            <a:r>
              <a:rPr lang="pt-BR" sz="3200" b="1" dirty="0">
                <a:solidFill>
                  <a:schemeClr val="tx1"/>
                </a:solidFill>
              </a:rPr>
              <a:t>. 3. ed. Amsterdam: Elsevier, 2011.</a:t>
            </a:r>
            <a:endParaRPr lang="pt-BR" sz="3200" b="1" dirty="0">
              <a:solidFill>
                <a:schemeClr val="tx1"/>
              </a:solidFill>
              <a:ea typeface="Calibri"/>
              <a:cs typeface="Calibri"/>
            </a:endParaRPr>
          </a:p>
        </p:txBody>
      </p:sp>
      <p:pic>
        <p:nvPicPr>
          <p:cNvPr id="7" name="Imagem 6" descr="Diagrama&#10;&#10;O conteúdo gerado por IA pode estar incorreto.">
            <a:extLst>
              <a:ext uri="{FF2B5EF4-FFF2-40B4-BE49-F238E27FC236}">
                <a16:creationId xmlns:a16="http://schemas.microsoft.com/office/drawing/2014/main" id="{DE0425B4-4BBE-4119-F4E3-54908A697293}"/>
              </a:ext>
            </a:extLst>
          </p:cNvPr>
          <p:cNvPicPr>
            <a:picLocks noChangeAspect="1"/>
          </p:cNvPicPr>
          <p:nvPr/>
        </p:nvPicPr>
        <p:blipFill>
          <a:blip r:embed="rId2"/>
          <a:stretch>
            <a:fillRect/>
          </a:stretch>
        </p:blipFill>
        <p:spPr>
          <a:xfrm>
            <a:off x="23891884" y="692779"/>
            <a:ext cx="7724775" cy="3553028"/>
          </a:xfrm>
          <a:prstGeom prst="rect">
            <a:avLst/>
          </a:prstGeom>
        </p:spPr>
      </p:pic>
      <p:pic>
        <p:nvPicPr>
          <p:cNvPr id="11" name="Imagem 10">
            <a:extLst>
              <a:ext uri="{FF2B5EF4-FFF2-40B4-BE49-F238E27FC236}">
                <a16:creationId xmlns:a16="http://schemas.microsoft.com/office/drawing/2014/main" id="{16012876-1C84-8DE5-9B13-5905E424B1C3}"/>
              </a:ext>
            </a:extLst>
          </p:cNvPr>
          <p:cNvPicPr>
            <a:picLocks noChangeAspect="1"/>
          </p:cNvPicPr>
          <p:nvPr/>
        </p:nvPicPr>
        <p:blipFill>
          <a:blip r:embed="rId3"/>
          <a:stretch>
            <a:fillRect/>
          </a:stretch>
        </p:blipFill>
        <p:spPr>
          <a:xfrm>
            <a:off x="874034" y="1299271"/>
            <a:ext cx="10612836" cy="2368923"/>
          </a:xfrm>
          <a:prstGeom prst="rect">
            <a:avLst/>
          </a:prstGeom>
        </p:spPr>
      </p:pic>
      <p:pic>
        <p:nvPicPr>
          <p:cNvPr id="1032" name="Picture 8">
            <a:extLst>
              <a:ext uri="{FF2B5EF4-FFF2-40B4-BE49-F238E27FC236}">
                <a16:creationId xmlns:a16="http://schemas.microsoft.com/office/drawing/2014/main" id="{22C3D844-B801-ADDE-95EF-70C95714ED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49000" y="11753268"/>
            <a:ext cx="14299017" cy="766018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712A1917-768A-A8EA-0B49-2D68BB91DCA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724" t="13408" r="5502" b="4556"/>
          <a:stretch>
            <a:fillRect/>
          </a:stretch>
        </p:blipFill>
        <p:spPr bwMode="auto">
          <a:xfrm>
            <a:off x="17940390" y="21314368"/>
            <a:ext cx="11902987" cy="108770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1094</TotalTime>
  <Words>853</Words>
  <Application>Microsoft Office PowerPoint</Application>
  <PresentationFormat>Personalizar</PresentationFormat>
  <Paragraphs>35</Paragraphs>
  <Slides>1</Slides>
  <Notes>0</Notes>
  <HiddenSlides>0</HiddenSlides>
  <MMClips>0</MMClips>
  <ScaleCrop>false</ScaleCrop>
  <HeadingPairs>
    <vt:vector size="4" baseType="variant">
      <vt:variant>
        <vt:lpstr>Tema</vt:lpstr>
      </vt:variant>
      <vt:variant>
        <vt:i4>1</vt:i4>
      </vt:variant>
      <vt:variant>
        <vt:lpstr>Títulos de slides</vt:lpstr>
      </vt:variant>
      <vt:variant>
        <vt:i4>1</vt:i4>
      </vt:variant>
    </vt:vector>
  </HeadingPairs>
  <TitlesOfParts>
    <vt:vector size="2" baseType="lpstr">
      <vt:lpstr>Tema do Office</vt:lpstr>
      <vt:lpstr>Recomendação Personalizada de Filmes: Desenvolvimento de Software e Prova de Conceito de Feature Weighting (Utilizando Streamlit)  Glenda Souza Fernandes Dos Santos; Isaac Oliveira Dias; João Luccas Lordelo Marques; Marcus Vinicius Lameu Lima; Paulo Henrique Pereira Araujo Piedade; Adailton de Jesus Cerqueira Junior.  Universidade Salvador – Salvador – BA – Brasil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on the Beach 2011</dc:title>
  <dc:creator>Tristao</dc:creator>
  <cp:lastModifiedBy>Marcus Vinicius Lameu Lima</cp:lastModifiedBy>
  <cp:revision>154</cp:revision>
  <dcterms:created xsi:type="dcterms:W3CDTF">2011-04-07T11:05:01Z</dcterms:created>
  <dcterms:modified xsi:type="dcterms:W3CDTF">2025-11-22T02:04:39Z</dcterms:modified>
</cp:coreProperties>
</file>